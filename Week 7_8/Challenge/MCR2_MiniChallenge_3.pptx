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6" r:id="rId3"/>
    <p:sldId id="345" r:id="rId4"/>
    <p:sldId id="352" r:id="rId5"/>
    <p:sldId id="353" r:id="rId6"/>
    <p:sldId id="343" r:id="rId7"/>
    <p:sldId id="348" r:id="rId8"/>
    <p:sldId id="357" r:id="rId9"/>
    <p:sldId id="358" r:id="rId10"/>
    <p:sldId id="355" r:id="rId11"/>
    <p:sldId id="354" r:id="rId12"/>
    <p:sldId id="351" r:id="rId13"/>
    <p:sldId id="34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4F2"/>
    <a:srgbClr val="01CCFF"/>
    <a:srgbClr val="0DC0FF"/>
    <a:srgbClr val="05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02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Martinez" userId="3a8698ea-445f-4751-a923-c95ba728fd8c" providerId="ADAL" clId="{DB41F62C-9CBB-42DC-932C-A3E0202753D7}"/>
    <pc:docChg chg="modSld">
      <pc:chgData name="Mario Martinez" userId="3a8698ea-445f-4751-a923-c95ba728fd8c" providerId="ADAL" clId="{DB41F62C-9CBB-42DC-932C-A3E0202753D7}" dt="2023-09-05T11:20:48.896" v="0" actId="20577"/>
      <pc:docMkLst>
        <pc:docMk/>
      </pc:docMkLst>
      <pc:sldChg chg="modSp mod">
        <pc:chgData name="Mario Martinez" userId="3a8698ea-445f-4751-a923-c95ba728fd8c" providerId="ADAL" clId="{DB41F62C-9CBB-42DC-932C-A3E0202753D7}" dt="2023-09-05T11:20:48.896" v="0" actId="20577"/>
        <pc:sldMkLst>
          <pc:docMk/>
          <pc:sldMk cId="2770401391" sldId="358"/>
        </pc:sldMkLst>
        <pc:spChg chg="mod">
          <ac:chgData name="Mario Martinez" userId="3a8698ea-445f-4751-a923-c95ba728fd8c" providerId="ADAL" clId="{DB41F62C-9CBB-42DC-932C-A3E0202753D7}" dt="2023-09-05T11:20:48.896" v="0" actId="20577"/>
          <ac:spMkLst>
            <pc:docMk/>
            <pc:sldMk cId="2770401391" sldId="358"/>
            <ac:spMk id="3" creationId="{5E779068-077F-D7FA-2A34-D42481D57B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C5B81-6D3C-324B-1D70-12F6AA44804C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9979AA6-E3C5-CBDB-656B-BBF3673289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C9C2A-0E96-B3DD-E72A-B658606A10BB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E1513E-D9F7-4665-D50A-C49BD062338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1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A7E8DB-A4AC-8027-9A53-75C66510D5D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402038" y="3509963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29CA6-0662-2D71-1B21-AE49055667F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1C1C02C-18E1-780A-8763-41AE0F291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0" y="2500833"/>
            <a:ext cx="4347501" cy="565735"/>
          </a:xfrm>
        </p:spPr>
        <p:txBody>
          <a:bodyPr anchor="b">
            <a:normAutofit/>
          </a:bodyPr>
          <a:lstStyle>
            <a:lvl1pPr algn="ctr">
              <a:defRPr sz="3000" spc="150" baseline="0">
                <a:solidFill>
                  <a:schemeClr val="bg2">
                    <a:lumMod val="50000"/>
                  </a:schemeClr>
                </a:solidFill>
                <a:latin typeface="Nexa-Bold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9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44F0A-52D2-552F-0A18-5EBE0472DC5E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11F31-A7FB-AB43-EE29-2BCF7DB70B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59138" y="3066568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4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33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ogo White/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93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5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9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58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D09993-40FE-D87D-E713-03530C1AD52C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6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2815400-80B1-A44B-1B13-B0799E1E5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74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ack/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11E6D7D-FA47-43C4-18B5-A38BE3172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0CF986-FD5A-5975-2EC8-F0EACE7041A6}"/>
              </a:ext>
            </a:extLst>
          </p:cNvPr>
          <p:cNvGrpSpPr/>
          <p:nvPr userDrawn="1"/>
        </p:nvGrpSpPr>
        <p:grpSpPr>
          <a:xfrm>
            <a:off x="5159912" y="1072085"/>
            <a:ext cx="7936447" cy="7920404"/>
            <a:chOff x="5159912" y="1072085"/>
            <a:chExt cx="7936447" cy="79204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369ACA-2F12-CB63-910E-229CF3B4A6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5159912" y="1081454"/>
              <a:ext cx="7032088" cy="5776546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AA18C82D-3997-C9C4-9292-DDEE574A48F2}"/>
                </a:ext>
              </a:extLst>
            </p:cNvPr>
            <p:cNvSpPr/>
            <p:nvPr userDrawn="1"/>
          </p:nvSpPr>
          <p:spPr>
            <a:xfrm rot="16200000">
              <a:off x="5175955" y="1072085"/>
              <a:ext cx="7920404" cy="7920404"/>
            </a:xfrm>
            <a:prstGeom prst="arc">
              <a:avLst>
                <a:gd name="adj1" fmla="val 14553369"/>
                <a:gd name="adj2" fmla="val 3028724"/>
              </a:avLst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9620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Small Log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9ACA-2F12-CB63-910E-229CF3B4A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7209216" y="2764866"/>
            <a:ext cx="4982784" cy="409313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A18C82D-3997-C9C4-9292-DDEE574A48F2}"/>
              </a:ext>
            </a:extLst>
          </p:cNvPr>
          <p:cNvSpPr/>
          <p:nvPr userDrawn="1"/>
        </p:nvSpPr>
        <p:spPr>
          <a:xfrm rot="16200000">
            <a:off x="7220584" y="2758227"/>
            <a:ext cx="5612225" cy="5612225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7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85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BDB03-EE9E-E849-B5B7-7F755201AD96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C7453-7434-0F61-820C-861F0B51D3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965FC7E-67B7-8CA6-E111-C3EE58075659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208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396"/>
            <a:ext cx="4686300" cy="435556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48A463-ECCE-6B5E-9715-FC07CD45CDB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24500" y="1821396"/>
            <a:ext cx="617220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1344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7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B799A-35E1-5885-20B2-35BB5A3F278D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DD9644-D426-35AF-FB09-853CF8CECC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6F475831-7E53-2D67-970D-48331E632951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0474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41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C2020-6297-BAE9-FFAD-EAD757C9C03F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EBFA66-BB0C-45B3-9E05-EA476847EE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3DEF0E3-00E5-BFD5-08D5-2E5E65294C13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4401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145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05ED7F-C3CB-F1AB-0D13-40D64480E1EB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2B66CE-628F-83AA-6C65-C9CFDA2A2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75E3FC-6420-950D-4C4B-59ED294A8095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552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253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92B77D-D732-E7D4-A6B1-0A966E6BF488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2C5448-A851-B643-5EAD-72DA0FDD41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11A7CE8-AD7B-8E77-CF09-1609492A8F9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33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67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2EC69-293D-B068-6694-395BB9B235B7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9BD460-7D72-5C8C-9608-81656E56D4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603E80E-EE02-763E-A618-4043A879275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811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851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7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C984A1-6593-853A-9B97-65F3D4B10071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B8DA1D-5808-60BA-D1A1-B8EECC1B70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B67F314-AC9F-2A3B-3561-2F1141B54268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283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DF6C-F99F-1AFA-98D0-D46A9AD3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7476"/>
            <a:ext cx="3932237" cy="849923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44C9D-2112-79B0-4816-9E78BD29B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07476"/>
            <a:ext cx="6172200" cy="46535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CF4E-C176-9D12-7120-4D0A9F2DA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CB104-0143-327D-34B1-7151C9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ECE-E60B-0CC8-E29F-58D51A51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1EF0-CF7E-5D1F-2062-9EBDCCA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A6701-4F96-CE0C-492C-6DFAA4D17F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4F42B12-34D2-EC73-93B8-A643C1AB7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225E6E-34E3-8E0F-A53C-AEDCE8120288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63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 Blu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69F4-770D-1B85-848B-D57E7B0CA1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85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7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6A0D65-B433-449D-A2E1-10BC8BD32A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44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C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6" y="816636"/>
            <a:ext cx="5224725" cy="522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F1ACE1-D73B-D8C2-A924-FC1C935A2DAE}"/>
              </a:ext>
            </a:extLst>
          </p:cNvPr>
          <p:cNvSpPr/>
          <p:nvPr userDrawn="1"/>
        </p:nvSpPr>
        <p:spPr>
          <a:xfrm>
            <a:off x="3483636" y="816637"/>
            <a:ext cx="5224725" cy="5224725"/>
          </a:xfrm>
          <a:prstGeom prst="ellipse">
            <a:avLst/>
          </a:prstGeom>
          <a:noFill/>
          <a:ln w="38100">
            <a:solidFill>
              <a:srgbClr val="01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79A1B-8910-5BC1-CF92-B38FE72C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6328-37A7-2676-1096-E57A9505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5011-76B3-0174-3A68-9C86EC07D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316D-C409-4712-90E5-1C58F0743890}" type="datetimeFigureOut">
              <a:rPr lang="en-GB" smtClean="0"/>
              <a:t>05/09/2023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A41-F04C-56FA-AB94-EC92BB1FF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6920-6913-6447-389F-BACD3E6EE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00A0-B5A4-4974-B922-5D8D8E00D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6" r:id="rId3"/>
    <p:sldLayoutId id="2147483670" r:id="rId4"/>
    <p:sldLayoutId id="2147483676" r:id="rId5"/>
    <p:sldLayoutId id="2147483667" r:id="rId6"/>
    <p:sldLayoutId id="2147483671" r:id="rId7"/>
    <p:sldLayoutId id="2147483660" r:id="rId8"/>
    <p:sldLayoutId id="2147483665" r:id="rId9"/>
    <p:sldLayoutId id="2147483672" r:id="rId10"/>
    <p:sldLayoutId id="2147483673" r:id="rId11"/>
    <p:sldLayoutId id="2147483664" r:id="rId12"/>
    <p:sldLayoutId id="2147483661" r:id="rId13"/>
    <p:sldLayoutId id="2147483662" r:id="rId14"/>
    <p:sldLayoutId id="2147483674" r:id="rId15"/>
    <p:sldLayoutId id="2147483675" r:id="rId16"/>
    <p:sldLayoutId id="2147483663" r:id="rId17"/>
    <p:sldLayoutId id="2147483691" r:id="rId18"/>
    <p:sldLayoutId id="2147483677" r:id="rId19"/>
    <p:sldLayoutId id="2147483679" r:id="rId20"/>
    <p:sldLayoutId id="2147483678" r:id="rId21"/>
    <p:sldLayoutId id="2147483680" r:id="rId22"/>
    <p:sldLayoutId id="2147483681" r:id="rId23"/>
    <p:sldLayoutId id="2147483692" r:id="rId24"/>
    <p:sldLayoutId id="2147483682" r:id="rId25"/>
    <p:sldLayoutId id="2147483683" r:id="rId26"/>
    <p:sldLayoutId id="2147483693" r:id="rId27"/>
    <p:sldLayoutId id="2147483685" r:id="rId28"/>
    <p:sldLayoutId id="2147483684" r:id="rId29"/>
    <p:sldLayoutId id="2147483687" r:id="rId30"/>
    <p:sldLayoutId id="2147483686" r:id="rId31"/>
    <p:sldLayoutId id="2147483688" r:id="rId32"/>
    <p:sldLayoutId id="2147483695" r:id="rId33"/>
    <p:sldLayoutId id="2147483689" r:id="rId34"/>
    <p:sldLayoutId id="2147483690" r:id="rId35"/>
    <p:sldLayoutId id="2147483696" r:id="rId36"/>
    <p:sldLayoutId id="2147483698" r:id="rId37"/>
    <p:sldLayoutId id="2147483697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sparkfun.com/products/15569" TargetMode="Externa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docs.ros.org/en/melodic/api/sensor_msgs/html/msg/Range.html" TargetMode="Externa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A4F2-8062-132D-0C92-BA591DDAD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36B9D-37D8-C829-E837-39277D5F1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Mini challenge 3</a:t>
            </a:r>
          </a:p>
        </p:txBody>
      </p:sp>
    </p:spTree>
    <p:extLst>
      <p:ext uri="{BB962C8B-B14F-4D97-AF65-F5344CB8AC3E}">
        <p14:creationId xmlns:p14="http://schemas.microsoft.com/office/powerpoint/2010/main" val="4276345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666" y="1545476"/>
            <a:ext cx="5181600" cy="49116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Nexa-Bold" panose="01000000000000000000" pitchFamily="2" charset="0"/>
              </a:rPr>
              <a:t>Introduction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Nexa-Bold" panose="010000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This mini-challenge is intended for the student to review the concepts introduced in the previous sessions.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robot to be used in the following sessions by the students are the EAI Smart Robots.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The robot contains several ultrasonic sensor modules.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Such sensors are typically used for obstacle avoidance or other “reactive” navigation techniques.</a:t>
            </a:r>
          </a:p>
          <a:p>
            <a:pPr>
              <a:lnSpc>
                <a:spcPct val="150000"/>
              </a:lnSpc>
            </a:pPr>
            <a:endParaRPr lang="en-GB" sz="1400" dirty="0"/>
          </a:p>
          <a:p>
            <a:pPr>
              <a:lnSpc>
                <a:spcPct val="150000"/>
              </a:lnSpc>
            </a:pP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98260C-2A8F-BAD7-9D7A-1CCB71A519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74970"/>
            <a:ext cx="5181600" cy="4052648"/>
          </a:xfrm>
        </p:spPr>
      </p:pic>
    </p:spTree>
    <p:extLst>
      <p:ext uri="{BB962C8B-B14F-4D97-AF65-F5344CB8AC3E}">
        <p14:creationId xmlns:p14="http://schemas.microsoft.com/office/powerpoint/2010/main" val="75606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666" y="1545476"/>
            <a:ext cx="5181600" cy="49116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Nexa-Bold" panose="01000000000000000000" pitchFamily="2" charset="0"/>
              </a:rPr>
              <a:t>Introduction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These sensors are typically connected to low-level control devices in a master-slave architecture, such as microcontrollers or other embedded solutions; to save processing time and allow the computer to focus on more complex tasks.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activity involves creating a ROS node to communicate an ultrasonic sensor with the computer using ROS.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sensor will be read using a microcontroller (Arduino Board) as an intermediary to save the computer's processing time.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See the following slides for requirements.</a:t>
            </a:r>
          </a:p>
          <a:p>
            <a:pPr>
              <a:lnSpc>
                <a:spcPct val="150000"/>
              </a:lnSpc>
            </a:pP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3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AF8FB1-890A-FA89-4D4F-D5CD3127A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2743200"/>
            <a:ext cx="5846887" cy="225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3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666" y="1545476"/>
            <a:ext cx="5181600" cy="491163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Nexa-Bold" panose="01000000000000000000" pitchFamily="2" charset="0"/>
              </a:rPr>
              <a:t>Challenge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The student must be able to visualize the data provided by an ultrasonic sensor using ROS.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/>
              <a:t>To do this, the student must program a node that publishes the data obtained by the microcontroller from the ultrasonic sensor.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Connect a sonar to the Arduino module and publish the data range of the sonar using ROS.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student must develop the communication libraries for the communication between the sonar and the Arduino. More information about the manufacturer’s protocol </a:t>
            </a:r>
            <a:r>
              <a:rPr lang="en-GB" sz="1400" dirty="0">
                <a:hlinkClick r:id="rId2"/>
              </a:rPr>
              <a:t>here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communication must be performed via serial, using the </a:t>
            </a:r>
            <a:r>
              <a:rPr lang="en-GB" sz="1400" dirty="0" err="1"/>
              <a:t>rosserial</a:t>
            </a:r>
            <a:r>
              <a:rPr lang="en-GB" sz="1400" dirty="0"/>
              <a:t> library for Arduino.</a:t>
            </a:r>
          </a:p>
          <a:p>
            <a:pPr>
              <a:lnSpc>
                <a:spcPct val="150000"/>
              </a:lnSpc>
            </a:pP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E44EA6-36AE-99F3-6DEF-D497606BF3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32959" y="2466976"/>
            <a:ext cx="6815137" cy="300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8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666" y="1545476"/>
            <a:ext cx="5181600" cy="49116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Nexa-Bold" panose="01000000000000000000" pitchFamily="2" charset="0"/>
              </a:rPr>
              <a:t>Challenge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Nexa-Bold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GB" sz="1400" dirty="0"/>
              <a:t>The information from the sensor must be published using the topic “/distance”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measurement must be published using a Float32 message.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result must be plotted using any visualizer available such as: “</a:t>
            </a:r>
            <a:r>
              <a:rPr lang="en-GB" sz="1400" dirty="0" err="1"/>
              <a:t>rqt_plot</a:t>
            </a:r>
            <a:r>
              <a:rPr lang="en-GB" sz="1400" dirty="0"/>
              <a:t>”.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nodes and topics must be visualized using the “</a:t>
            </a:r>
            <a:r>
              <a:rPr lang="en-GB" sz="1400" dirty="0" err="1"/>
              <a:t>rqt_graph</a:t>
            </a:r>
            <a:r>
              <a:rPr lang="en-GB" sz="1400" dirty="0"/>
              <a:t>”.</a:t>
            </a:r>
          </a:p>
          <a:p>
            <a:pPr>
              <a:lnSpc>
                <a:spcPct val="150000"/>
              </a:lnSpc>
            </a:pPr>
            <a:endParaRPr lang="en-GB" sz="1400" dirty="0"/>
          </a:p>
          <a:p>
            <a:pPr>
              <a:lnSpc>
                <a:spcPct val="150000"/>
              </a:lnSpc>
            </a:pP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Challenge 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35958D-440E-7CB9-A9E8-BF710FEAB2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86781"/>
            <a:ext cx="51816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6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A87586-FB8F-A018-67B5-7F69FC6E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Mini Challenge 3: Requirements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E9FEB0-C07D-2CA5-13B5-FAAF4B6DB7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505200" y="1830527"/>
            <a:ext cx="5181600" cy="419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7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6043F-B83B-8B64-FF39-1AEA1B0762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1200" dirty="0"/>
          </a:p>
          <a:p>
            <a:pPr marL="269875" lvl="1" indent="-269875">
              <a:lnSpc>
                <a:spcPct val="150000"/>
              </a:lnSpc>
            </a:pPr>
            <a:endParaRPr lang="en-GB" sz="1200" dirty="0"/>
          </a:p>
          <a:p>
            <a:pPr marL="269875" lvl="1" indent="-269875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A87586-FB8F-A018-67B5-7F69FC6E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Mini Challenge 3: Connection Diagrams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D5C7D84-39BC-BF93-C3AB-58FDA678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98" y="1446302"/>
            <a:ext cx="11254191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D97182-DE89-6752-58A0-B5C56E2AE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24602" y="1213995"/>
            <a:ext cx="5711687" cy="5290959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5600" b="1" dirty="0">
                <a:latin typeface="Nexa Bold" panose="02000000000000000000" pitchFamily="50" charset="0"/>
              </a:rPr>
              <a:t>REPORT</a:t>
            </a:r>
            <a:endParaRPr lang="en-GB" sz="4400" b="1" dirty="0">
              <a:latin typeface="Nexa Bold" panose="02000000000000000000" pitchFamily="50" charset="0"/>
            </a:endParaRPr>
          </a:p>
          <a:p>
            <a:pPr>
              <a:lnSpc>
                <a:spcPct val="170000"/>
              </a:lnSpc>
            </a:pPr>
            <a:r>
              <a:rPr lang="en-GB" sz="4400" dirty="0"/>
              <a:t>Maximum number of pages: 2 pages, not including presentation.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Presentation: Include name, student ID, and team name.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Minimum font size: 11 pt.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Appendix: No.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Report type: Individual.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Report design: Single-column or two columns.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Format: PDF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Content Details:</a:t>
            </a:r>
          </a:p>
          <a:p>
            <a:pPr lvl="1">
              <a:lnSpc>
                <a:spcPct val="170000"/>
              </a:lnSpc>
            </a:pPr>
            <a:r>
              <a:rPr lang="en-GB" sz="4400" dirty="0"/>
              <a:t>Each task must be included in a different section.</a:t>
            </a:r>
          </a:p>
          <a:p>
            <a:pPr lvl="1">
              <a:lnSpc>
                <a:spcPct val="170000"/>
              </a:lnSpc>
            </a:pPr>
            <a:r>
              <a:rPr lang="en-GB" sz="4400" dirty="0"/>
              <a:t>It is recommended to use diagrams, figures, tables, etc.</a:t>
            </a:r>
          </a:p>
          <a:p>
            <a:pPr lvl="1">
              <a:lnSpc>
                <a:spcPct val="170000"/>
              </a:lnSpc>
            </a:pPr>
            <a:r>
              <a:rPr lang="en-GB" sz="4400" dirty="0"/>
              <a:t>Include reflections, conclusions, y recommendations of each result in detail.</a:t>
            </a:r>
          </a:p>
          <a:p>
            <a:pPr lvl="1">
              <a:lnSpc>
                <a:spcPct val="170000"/>
              </a:lnSpc>
            </a:pPr>
            <a:r>
              <a:rPr lang="en-GB" sz="4400" dirty="0"/>
              <a:t>Include references using the IEEE format.</a:t>
            </a:r>
          </a:p>
          <a:p>
            <a:pPr>
              <a:lnSpc>
                <a:spcPct val="170000"/>
              </a:lnSpc>
            </a:pPr>
            <a:r>
              <a:rPr lang="en-GB" sz="4400" dirty="0"/>
              <a:t>Important: Results and/or figures that do not contain information or detailed explanations will be penalized.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9068-077F-D7FA-2A34-D42481D57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8052" y="1446301"/>
            <a:ext cx="5711686" cy="52909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700" b="1" dirty="0">
                <a:latin typeface="Nexa Bold" panose="02000000000000000000" pitchFamily="50" charset="0"/>
              </a:rPr>
              <a:t>Teams: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The students must form teams for this mini-challenge. The teams will be the same as in other classes of this concentration.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Th teams must be multidisciplinary.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The students must respectfully help each other to understand all the topics.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The team must manage the project, using a project management methodology, and present it in the report. </a:t>
            </a:r>
          </a:p>
          <a:p>
            <a:pPr lvl="2">
              <a:lnSpc>
                <a:spcPct val="150000"/>
              </a:lnSpc>
            </a:pPr>
            <a:r>
              <a:rPr lang="en-GB" sz="1400" dirty="0"/>
              <a:t>The methodology selected can be simple, E.g., Waterfall, Agile, Kanban, etc.</a:t>
            </a:r>
          </a:p>
          <a:p>
            <a:pPr lvl="1">
              <a:lnSpc>
                <a:spcPct val="150000"/>
              </a:lnSpc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BA9CB0-4FA3-7058-03D6-EB461E1F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419934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D97182-DE89-6752-58A0-B5C56E2AE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24602" y="1213995"/>
            <a:ext cx="5711687" cy="5290959"/>
          </a:xfrm>
        </p:spPr>
        <p:txBody>
          <a:bodyPr>
            <a:normAutofit/>
          </a:bodyPr>
          <a:lstStyle/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9068-077F-D7FA-2A34-D42481D57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8052" y="1446301"/>
            <a:ext cx="11449878" cy="52909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700" b="1" dirty="0">
                <a:latin typeface="Nexa Bold" panose="02000000000000000000" pitchFamily="50" charset="0"/>
              </a:rPr>
              <a:t>Rubric</a:t>
            </a:r>
          </a:p>
          <a:p>
            <a:pPr marL="342900" lvl="0" indent="-342900">
              <a:lnSpc>
                <a:spcPct val="107000"/>
              </a:lnSpc>
              <a:buSzPts val="1100"/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</a:t>
            </a: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problem and why is essential.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100"/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project management strategy selected (use diagrams, flow chart)</a:t>
            </a: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show diagrams explaining how the project management strategy was implemented.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describe concretely, why this </a:t>
            </a: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strategy was selected</a:t>
            </a: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100"/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code, and how it works? Constraints? Advantages, and disadvantages? etc. )</a:t>
            </a: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explain the code using diagrams, flowcharts, etc.</a:t>
            </a: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show the proposed solutions' constraints, advantages, and disadvantages.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100"/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Plots used to verify and analyse the behaviour of the algorithms, showing the performance of the sensor</a:t>
            </a: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show the plots used to verify the behaviour of the algorithm. 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100"/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Reflect on the sensor’s performance and propose solutions (What problems can be expected? Solutions/improvements?)</a:t>
            </a: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provide a small reflection on the problems that can occur using their algorithm with ROS.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is expected to explain the physical phenomena that make obtaining measurements difficult, if applicable.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student must propose some solutions on how to solve these issues.</a:t>
            </a:r>
          </a:p>
          <a:p>
            <a:pPr marL="342900" lvl="0" indent="-342900">
              <a:lnSpc>
                <a:spcPct val="107000"/>
              </a:lnSpc>
              <a:buSzPts val="1100"/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 presentation, references, and clarity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en-GB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 must be clear for the reader, well organised, and with a good presentation and references. 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1700" b="1" dirty="0">
              <a:latin typeface="Nexa Bold" panose="02000000000000000000" pitchFamily="50" charset="0"/>
            </a:endParaRPr>
          </a:p>
          <a:p>
            <a:pPr lvl="1">
              <a:lnSpc>
                <a:spcPct val="150000"/>
              </a:lnSpc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BA9CB0-4FA3-7058-03D6-EB461E1F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2770401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Nexa-Bold" panose="01000000000000000000" pitchFamily="2" charset="0"/>
              </a:rPr>
              <a:t>Be creative!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Nexa-Bold" panose="01000000000000000000" pitchFamily="2" charset="0"/>
              </a:rPr>
              <a:t> </a:t>
            </a:r>
            <a:r>
              <a:rPr lang="en-GB" sz="1400" dirty="0"/>
              <a:t>Generate a node on the computer that subscribes to the “/distance” topic and use the information of the sensor to perform a simple task in ROS, e.g., Distance alarm, parking sensor, etc.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Must be implemented using ROS.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report must clearly define and describe the task (1/2 a page to 1 page maximum added to the report). 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Usage of diagrams, images flowcharts is encouraged.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A video (YouTube) showing how it works must be presented.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400" dirty="0"/>
          </a:p>
          <a:p>
            <a:pPr>
              <a:lnSpc>
                <a:spcPct val="150000"/>
              </a:lnSpc>
            </a:pPr>
            <a:endParaRPr lang="en-GB" sz="1400" dirty="0"/>
          </a:p>
          <a:p>
            <a:pPr>
              <a:lnSpc>
                <a:spcPct val="150000"/>
              </a:lnSpc>
            </a:pP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pic>
        <p:nvPicPr>
          <p:cNvPr id="8" name="Content Placeholder 7" descr="Lightbulb and gear with solid fill">
            <a:extLst>
              <a:ext uri="{FF2B5EF4-FFF2-40B4-BE49-F238E27FC236}">
                <a16:creationId xmlns:a16="http://schemas.microsoft.com/office/drawing/2014/main" id="{8CF8BD04-E7AA-639A-0DA1-DE705218BA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1212" y="2629694"/>
            <a:ext cx="914400" cy="9144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Mini Challenge 3: Extension 1 (extra marks, not mandatory)</a:t>
            </a:r>
          </a:p>
        </p:txBody>
      </p:sp>
      <p:pic>
        <p:nvPicPr>
          <p:cNvPr id="10" name="Graphic 9" descr="Head with gears outline">
            <a:extLst>
              <a:ext uri="{FF2B5EF4-FFF2-40B4-BE49-F238E27FC236}">
                <a16:creationId xmlns:a16="http://schemas.microsoft.com/office/drawing/2014/main" id="{04B875D3-A5A7-381C-C544-F45632ED7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7565" y="3086894"/>
            <a:ext cx="1920847" cy="192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6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666" y="1545476"/>
            <a:ext cx="5181600" cy="491163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Nexa-Bold" panose="01000000000000000000" pitchFamily="2" charset="0"/>
              </a:rPr>
              <a:t>Challenge Extension 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Nexa-Bold" panose="01000000000000000000" pitchFamily="2" charset="0"/>
              </a:rPr>
              <a:t> </a:t>
            </a:r>
            <a:r>
              <a:rPr lang="en-GB" sz="1400" dirty="0"/>
              <a:t>Publish the measurement using an appropriate standardized message for range measurements in ROS.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“Range” is the typical standard message in the “</a:t>
            </a:r>
            <a:r>
              <a:rPr lang="en-GB" sz="1400" dirty="0" err="1"/>
              <a:t>sensor_msgs</a:t>
            </a:r>
            <a:r>
              <a:rPr lang="en-GB" sz="1400" dirty="0"/>
              <a:t>” library. More information </a:t>
            </a:r>
            <a:r>
              <a:rPr lang="en-GB" sz="1400" dirty="0">
                <a:hlinkClick r:id="rId2"/>
              </a:rPr>
              <a:t>here</a:t>
            </a:r>
            <a:r>
              <a:rPr lang="en-GB" sz="1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Hint 1: call the library on the Arduino as follows “</a:t>
            </a:r>
            <a:r>
              <a:rPr lang="en-GB" sz="1400" i="1" dirty="0"/>
              <a:t>#include &lt;</a:t>
            </a:r>
            <a:r>
              <a:rPr lang="en-GB" sz="1400" i="1" dirty="0" err="1"/>
              <a:t>sensor_msgs</a:t>
            </a:r>
            <a:r>
              <a:rPr lang="en-GB" sz="1400" i="1" dirty="0"/>
              <a:t>/</a:t>
            </a:r>
            <a:r>
              <a:rPr lang="en-GB" sz="1400" i="1" dirty="0" err="1"/>
              <a:t>Range.h</a:t>
            </a:r>
            <a:r>
              <a:rPr lang="en-GB" sz="1400" i="1" dirty="0"/>
              <a:t>&gt;”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Hint 2: Do not forget the time stamp of the message, you can define it as follows,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GB" sz="1400" i="1" dirty="0"/>
              <a:t>“</a:t>
            </a:r>
            <a:r>
              <a:rPr lang="en-GB" sz="1400" i="1" dirty="0" err="1"/>
              <a:t>message_name.header.stamp</a:t>
            </a:r>
            <a:r>
              <a:rPr lang="en-GB" sz="1400" i="1" dirty="0"/>
              <a:t> =  </a:t>
            </a:r>
            <a:r>
              <a:rPr lang="en-GB" sz="1400" i="1" dirty="0" err="1"/>
              <a:t>nh.now</a:t>
            </a:r>
            <a:r>
              <a:rPr lang="en-GB" sz="1400" i="1" dirty="0"/>
              <a:t>();”</a:t>
            </a:r>
          </a:p>
          <a:p>
            <a:pPr lvl="2">
              <a:lnSpc>
                <a:spcPct val="150000"/>
              </a:lnSpc>
            </a:pPr>
            <a:r>
              <a:rPr lang="en-GB" sz="1400" dirty="0"/>
              <a:t>Where </a:t>
            </a:r>
            <a:r>
              <a:rPr lang="en-GB" sz="1400" dirty="0" err="1"/>
              <a:t>nh.now</a:t>
            </a:r>
            <a:r>
              <a:rPr lang="en-GB" sz="1400" dirty="0"/>
              <a:t>() is the ROS time inside the library 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GB" sz="1400" dirty="0"/>
              <a:t>	“#include &lt;</a:t>
            </a:r>
            <a:r>
              <a:rPr lang="en-GB" sz="1400" dirty="0" err="1"/>
              <a:t>ros</a:t>
            </a:r>
            <a:r>
              <a:rPr lang="en-GB" sz="1400" dirty="0"/>
              <a:t>/</a:t>
            </a:r>
            <a:r>
              <a:rPr lang="en-GB" sz="1400" dirty="0" err="1"/>
              <a:t>time.h</a:t>
            </a:r>
            <a:r>
              <a:rPr lang="en-GB" sz="1400" dirty="0"/>
              <a:t>&gt;”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The results of this task must be included in the report in less than 1/2 page.</a:t>
            </a:r>
            <a:endParaRPr lang="en-GB" sz="1800" dirty="0"/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Mini Challenge 3: Extension 2 (not mandatory, no extra marks)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35958D-440E-7CB9-A9E8-BF710FEAB2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86781"/>
            <a:ext cx="51816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82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36926D9-974D-C999-AA20-BB5042003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333" y="0"/>
            <a:ext cx="6855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1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20AE8E-8767-C555-2D23-F792DAD7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51542-C980-BEAE-5D84-CF98B0737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This is challenge, </a:t>
            </a:r>
            <a:r>
              <a:rPr lang="en-GB" sz="1200" b="1" dirty="0"/>
              <a:t>not</a:t>
            </a:r>
            <a:r>
              <a:rPr lang="en-GB" sz="1200" dirty="0"/>
              <a:t> a class. The students are encouraged to research, improve tune explain their algorithms by themselves.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MCR2(Manchester Robotics) Reserves the right to answer a question if it is determined that the question contains partially or an answer.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students are welcome to ask only about the theoretical aspect of the class.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No remote control or any other form of human interaction with the simulator or ROS is allowed (except at the start when launching the files).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It is </a:t>
            </a:r>
            <a:r>
              <a:rPr lang="en-GB" sz="1200" b="1" dirty="0"/>
              <a:t>forbidden</a:t>
            </a:r>
            <a:r>
              <a:rPr lang="en-GB" sz="1200" dirty="0"/>
              <a:t> to use any other internet libraries except for standard libraries such as NumPy.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If in doubt about libraries, please ask any teaching assistant.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Improvements to the algorithms are encouraged and may be used if the students provide the reasons and a detailed explanation of the improvements.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All the students must respect each other and abide by the previously defined rules.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Manchester Robotics reserves the right to provide any form of grading. Grading and grading methodology are done by the professor in charge of the unit.</a:t>
            </a:r>
          </a:p>
        </p:txBody>
      </p:sp>
    </p:spTree>
    <p:extLst>
      <p:ext uri="{BB962C8B-B14F-4D97-AF65-F5344CB8AC3E}">
        <p14:creationId xmlns:p14="http://schemas.microsoft.com/office/powerpoint/2010/main" val="3260189706"/>
      </p:ext>
    </p:extLst>
  </p:cSld>
  <p:clrMapOvr>
    <a:masterClrMapping/>
  </p:clrMapOvr>
</p:sld>
</file>

<file path=ppt/theme/theme1.xml><?xml version="1.0" encoding="utf-8"?>
<a:theme xmlns:a="http://schemas.openxmlformats.org/drawingml/2006/main" name="MCR2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1C2F4BA-8CD1-424B-B5B5-360BB9C4429E}" vid="{4383FA9D-3BE3-4AD1-B8EA-46A5EDA21D0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MCR2_PowerPoint_Template</Template>
  <TotalTime>229</TotalTime>
  <Words>1194</Words>
  <Application>Microsoft Office PowerPoint</Application>
  <PresentationFormat>Widescreen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Nexa Bold</vt:lpstr>
      <vt:lpstr>Nexa-Bold</vt:lpstr>
      <vt:lpstr>Nexa-Book</vt:lpstr>
      <vt:lpstr>Nexa-Light</vt:lpstr>
      <vt:lpstr>Symbol</vt:lpstr>
      <vt:lpstr>MCR2 Theme</vt:lpstr>
      <vt:lpstr>Challenges</vt:lpstr>
      <vt:lpstr>Mini Challenge 3</vt:lpstr>
      <vt:lpstr>Mini Challenge 3</vt:lpstr>
      <vt:lpstr>Mini Challenge 3</vt:lpstr>
      <vt:lpstr>Mini Challenge 3</vt:lpstr>
      <vt:lpstr>Mini Challenge 3: Requirements</vt:lpstr>
      <vt:lpstr>Mini Challenge 3: Connection Diagrams</vt:lpstr>
      <vt:lpstr>Deliverables</vt:lpstr>
      <vt:lpstr>Deliverables</vt:lpstr>
      <vt:lpstr>Mini Challenge 3: Extension 1 (extra marks, not mandatory)</vt:lpstr>
      <vt:lpstr>Mini Challenge 3: Extension 2 (not mandatory, no extra marks)</vt:lpstr>
      <vt:lpstr>PowerPoint Presentation</vt:lpstr>
      <vt:lpstr>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</dc:title>
  <dc:creator>Mario Martinez</dc:creator>
  <cp:lastModifiedBy>Mario Martinez</cp:lastModifiedBy>
  <cp:revision>5</cp:revision>
  <dcterms:created xsi:type="dcterms:W3CDTF">2023-08-18T12:49:03Z</dcterms:created>
  <dcterms:modified xsi:type="dcterms:W3CDTF">2023-09-05T11:20:59Z</dcterms:modified>
</cp:coreProperties>
</file>